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2" r:id="rId7"/>
    <p:sldId id="263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8E9D0-E121-C06D-79D3-C9179BBAF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376515"/>
            <a:ext cx="8361229" cy="3529781"/>
          </a:xfrm>
        </p:spPr>
        <p:txBody>
          <a:bodyPr/>
          <a:lstStyle/>
          <a:p>
            <a:r>
              <a:rPr lang="en-IN" sz="5000" dirty="0"/>
              <a:t>MULTI-RESOLUTIONAL IMAGE COMPRESSION USING DEEP CONVOLUTIONAL AUTOENCODERS</a:t>
            </a:r>
          </a:p>
        </p:txBody>
      </p:sp>
    </p:spTree>
    <p:extLst>
      <p:ext uri="{BB962C8B-B14F-4D97-AF65-F5344CB8AC3E}">
        <p14:creationId xmlns:p14="http://schemas.microsoft.com/office/powerpoint/2010/main" val="414441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C2CB-6F50-FD15-7DA4-DBCC93FE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METHODOLOGY- JPEG IMAGE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B6B1-8FBA-64F3-E6A2-F78C9D43A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440" y="2171700"/>
            <a:ext cx="9601200" cy="4166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JPEG is a widely used lossy image compression standard designed to reduce file size while maintaining acceptable visual quality. The method works by converting the image from RGB to </a:t>
            </a:r>
            <a:r>
              <a:rPr lang="en-US" dirty="0" err="1"/>
              <a:t>YCbCr</a:t>
            </a:r>
            <a:r>
              <a:rPr lang="en-US" dirty="0"/>
              <a:t> color space, dividing it into 8×8 blocks, and applying the Discrete Cosine Transform (DCT) to separate low-frequency and high-frequency components. High-frequency components, which contribute less to human visual perception, are quantized more aggressively to achieve compression. </a:t>
            </a:r>
          </a:p>
          <a:p>
            <a:pPr marL="0" indent="0">
              <a:buNone/>
            </a:pPr>
            <a:r>
              <a:rPr lang="en-US" dirty="0"/>
              <a:t>Finally, run-length encoding and Huffman coding are applied to generate the compressed bitstream. Although JPEG achieves good compression rates, it often introduces artifacts such as </a:t>
            </a:r>
            <a:r>
              <a:rPr lang="en-US" dirty="0" err="1"/>
              <a:t>blockiness</a:t>
            </a:r>
            <a:r>
              <a:rPr lang="en-US" dirty="0"/>
              <a:t> and loss of fine details, especially at higher compression levels.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15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67FE-3B72-BA5E-B68B-71A2F5A59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EF57-88FC-169E-A91C-03EBC39D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018295" cy="1485900"/>
          </a:xfrm>
        </p:spPr>
        <p:txBody>
          <a:bodyPr/>
          <a:lstStyle/>
          <a:p>
            <a:r>
              <a:rPr lang="en-IN" dirty="0"/>
              <a:t>JPEG Compression: Preprocessing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65356-72B3-DED5-4BC9-2570F825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85424"/>
            <a:ext cx="9601200" cy="48286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1. Color Space Conversion (RGB → </a:t>
            </a:r>
            <a:r>
              <a:rPr lang="en-US" sz="1800" b="1" dirty="0" err="1"/>
              <a:t>YCbCr</a:t>
            </a:r>
            <a:r>
              <a:rPr lang="en-US" sz="1800" b="1" dirty="0"/>
              <a:t>)</a:t>
            </a:r>
          </a:p>
          <a:p>
            <a:r>
              <a:rPr lang="en-US" sz="1800" dirty="0"/>
              <a:t>JPEG converts the input image from RGB to </a:t>
            </a:r>
            <a:r>
              <a:rPr lang="en-US" sz="1800" dirty="0" err="1"/>
              <a:t>YCbCr</a:t>
            </a:r>
            <a:r>
              <a:rPr lang="en-US" sz="1800" dirty="0"/>
              <a:t>.</a:t>
            </a:r>
          </a:p>
          <a:p>
            <a:r>
              <a:rPr lang="en-US" sz="1800" dirty="0"/>
              <a:t>Y = brightness, </a:t>
            </a:r>
            <a:r>
              <a:rPr lang="en-US" sz="1800" dirty="0" err="1"/>
              <a:t>Cb</a:t>
            </a:r>
            <a:r>
              <a:rPr lang="en-US" sz="1800" dirty="0"/>
              <a:t> &amp; Cr = color difference.</a:t>
            </a:r>
          </a:p>
          <a:p>
            <a:r>
              <a:rPr lang="en-US" sz="1800" dirty="0"/>
              <a:t>Human eye is less sensitive to color → allows better compression.</a:t>
            </a:r>
          </a:p>
          <a:p>
            <a:pPr marL="0" indent="0">
              <a:buNone/>
            </a:pPr>
            <a:r>
              <a:rPr lang="en-US" sz="1800" b="1" dirty="0"/>
              <a:t>2. </a:t>
            </a:r>
            <a:r>
              <a:rPr lang="en-US" sz="1800" b="1" dirty="0" err="1"/>
              <a:t>Downsampling</a:t>
            </a:r>
            <a:endParaRPr lang="en-US" sz="1800" b="1" dirty="0"/>
          </a:p>
          <a:p>
            <a:r>
              <a:rPr lang="en-US" sz="1800" dirty="0" err="1"/>
              <a:t>Cb</a:t>
            </a:r>
            <a:r>
              <a:rPr lang="en-US" sz="1800" dirty="0"/>
              <a:t> and Cr channels are reduced in resolution (commonly 4:2:0).</a:t>
            </a:r>
          </a:p>
          <a:p>
            <a:r>
              <a:rPr lang="en-US" sz="1800" dirty="0"/>
              <a:t>Every 2×2 block is replaced with a single color value.</a:t>
            </a:r>
          </a:p>
          <a:p>
            <a:r>
              <a:rPr lang="en-US" sz="1800" dirty="0"/>
              <a:t>Reduces data by 50–75% with little visual loss.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25659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7DA1-5D5A-A70F-2886-A68FD506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0AE0-D35E-6693-13FD-897DB74FC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018295" cy="1485900"/>
          </a:xfrm>
        </p:spPr>
        <p:txBody>
          <a:bodyPr/>
          <a:lstStyle/>
          <a:p>
            <a:r>
              <a:rPr lang="en-IN" dirty="0"/>
              <a:t>JPEG Compression: Frequency-Based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8CB92-CAF8-27AB-15C1-187B5BA3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3971"/>
            <a:ext cx="9601200" cy="48286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3. 8×8 Block Splitting</a:t>
            </a:r>
          </a:p>
          <a:p>
            <a:r>
              <a:rPr lang="en-US" sz="1800" dirty="0"/>
              <a:t>The image is divided into 8×8 blocks for localized processing.</a:t>
            </a:r>
          </a:p>
          <a:p>
            <a:r>
              <a:rPr lang="en-US" sz="1800" dirty="0"/>
              <a:t>Allows efficient frequency transformation and compression.</a:t>
            </a:r>
          </a:p>
          <a:p>
            <a:pPr marL="0" indent="0">
              <a:buNone/>
            </a:pPr>
            <a:r>
              <a:rPr lang="en-US" sz="1800" b="1" dirty="0"/>
              <a:t>4. Discrete Cosine Transform (DCT)</a:t>
            </a:r>
          </a:p>
          <a:p>
            <a:r>
              <a:rPr lang="en-US" sz="1800" dirty="0"/>
              <a:t>Converts 8×8 pixel block into frequency domain.</a:t>
            </a:r>
          </a:p>
          <a:p>
            <a:r>
              <a:rPr lang="en-US" sz="1800" dirty="0"/>
              <a:t>Low frequencies = major details; high frequencies = minor details.</a:t>
            </a:r>
          </a:p>
          <a:p>
            <a:pPr marL="0" indent="0">
              <a:buNone/>
            </a:pPr>
            <a:r>
              <a:rPr lang="en-US" sz="1800" b="1" dirty="0"/>
              <a:t>5. Quantization</a:t>
            </a:r>
          </a:p>
          <a:p>
            <a:r>
              <a:rPr lang="en-US" sz="1800" dirty="0"/>
              <a:t>Core compression step.</a:t>
            </a:r>
          </a:p>
          <a:p>
            <a:r>
              <a:rPr lang="en-US" sz="1800" dirty="0"/>
              <a:t>High-frequency values are reduced or set to zero using a quantization table.</a:t>
            </a:r>
          </a:p>
          <a:p>
            <a:r>
              <a:rPr lang="en-US" sz="1800" dirty="0"/>
              <a:t>Greatly reduces the amount of stored data.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68917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D8FD6-7015-328E-1E7D-B6B110CA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CA34-82DA-27B3-A4AC-C28F4026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018295" cy="9665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JPEG Compression: Encoding Stage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050F5-4C62-6168-F0F7-7284E8A3F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52337"/>
            <a:ext cx="9601200" cy="48286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6. Zig-Zag Scanning</a:t>
            </a:r>
          </a:p>
          <a:p>
            <a:r>
              <a:rPr lang="en-IN" sz="1800" dirty="0"/>
              <a:t>Converts each quantized 8×8 block into a 1D sequence.</a:t>
            </a:r>
          </a:p>
          <a:p>
            <a:r>
              <a:rPr lang="en-IN" sz="1800" dirty="0"/>
              <a:t>Important (low-frequency) values are placed first; zeros cluster at the end.</a:t>
            </a:r>
          </a:p>
          <a:p>
            <a:pPr marL="0" indent="0">
              <a:buNone/>
            </a:pPr>
            <a:r>
              <a:rPr lang="en-US" sz="1800" b="1" dirty="0"/>
              <a:t>7. Final Lossless Compression</a:t>
            </a:r>
          </a:p>
          <a:p>
            <a:r>
              <a:rPr lang="en-US" sz="1800" dirty="0"/>
              <a:t>The image data is compressed again using short binary patterns.</a:t>
            </a:r>
          </a:p>
          <a:p>
            <a:r>
              <a:rPr lang="en-US" sz="1800" dirty="0"/>
              <a:t>Repeated values are stored using fewer bits.</a:t>
            </a:r>
          </a:p>
          <a:p>
            <a:r>
              <a:rPr lang="en-US" sz="1800" dirty="0"/>
              <a:t>Produces the final compressed JPEG file.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52758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C7C5-5F3C-FE5A-3124-A05618B4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C8D84-B8C2-CB42-033E-E8EA81C4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-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714F8-8B0D-AA42-5A42-139AC534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0463"/>
            <a:ext cx="9601200" cy="4166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Autoencoders are neural networks designed to compress and reconstruct data efficiently.</a:t>
            </a:r>
            <a:br>
              <a:rPr lang="en-US" dirty="0"/>
            </a:br>
            <a:r>
              <a:rPr lang="en-US" dirty="0"/>
              <a:t>They work by encoding the input image into a smaller latent representation and then decoding it back to its original size.</a:t>
            </a:r>
            <a:br>
              <a:rPr lang="en-US" dirty="0"/>
            </a:br>
            <a:r>
              <a:rPr lang="en-US" dirty="0"/>
              <a:t>The encoder reduces the image dimensions by extracting important features and removing noise.</a:t>
            </a:r>
            <a:br>
              <a:rPr lang="en-US" dirty="0"/>
            </a:br>
            <a:r>
              <a:rPr lang="en-US" dirty="0"/>
              <a:t>The decoder rebuilds the image using up sampling and convolution operations.</a:t>
            </a:r>
            <a:br>
              <a:rPr lang="en-US" dirty="0"/>
            </a:br>
            <a:r>
              <a:rPr lang="en-US" dirty="0"/>
              <a:t>The model is trained by minimizing the difference between the original and reconstructed images.</a:t>
            </a:r>
            <a:br>
              <a:rPr lang="en-US" dirty="0"/>
            </a:br>
            <a:r>
              <a:rPr lang="en-US" dirty="0"/>
              <a:t>Through repeated training, the autoencoder learns to compress data effectively while preserving key information.</a:t>
            </a:r>
            <a:br>
              <a:rPr lang="en-US" dirty="0"/>
            </a:br>
            <a:r>
              <a:rPr lang="en-US" dirty="0"/>
              <a:t>This project demonstrates the complete workflow of an autoencoder for image compression.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01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E12CA-DCFC-89C3-FC17-C00B45BF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3AC7-551B-1709-A6F1-7C9BEEBD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Encoder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86B8-E22D-1CF2-0BA1-77155577A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8286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1. Random Filter Initialization</a:t>
            </a:r>
          </a:p>
          <a:p>
            <a:r>
              <a:rPr lang="en-US" sz="1900" dirty="0"/>
              <a:t>The autoencoder starts with convolution filters containing random values.</a:t>
            </a:r>
          </a:p>
          <a:p>
            <a:r>
              <a:rPr lang="en-US" sz="1900" dirty="0"/>
              <a:t>At this point, the model does not know any image features.</a:t>
            </a:r>
          </a:p>
          <a:p>
            <a:pPr marL="0" indent="0">
              <a:buNone/>
            </a:pPr>
            <a:r>
              <a:rPr lang="en-US" sz="1900" b="1" dirty="0"/>
              <a:t>2. Convolution</a:t>
            </a:r>
          </a:p>
          <a:p>
            <a:r>
              <a:rPr lang="en-US" sz="1900" dirty="0"/>
              <a:t>Filters slide over the image and perform element-wise multiplication with each patch.</a:t>
            </a:r>
          </a:p>
          <a:p>
            <a:r>
              <a:rPr lang="en-US" sz="1900" dirty="0"/>
              <a:t>This produces a </a:t>
            </a:r>
            <a:r>
              <a:rPr lang="en-US" sz="1900" i="1" dirty="0"/>
              <a:t>feature map</a:t>
            </a:r>
            <a:r>
              <a:rPr lang="en-US" sz="1900" dirty="0"/>
              <a:t> that highlights basic patterns like edges and textures.</a:t>
            </a:r>
          </a:p>
          <a:p>
            <a:pPr marL="0" indent="0">
              <a:buNone/>
            </a:pPr>
            <a:r>
              <a:rPr lang="en-US" sz="1900" b="1" dirty="0"/>
              <a:t>3. </a:t>
            </a:r>
            <a:r>
              <a:rPr lang="en-US" sz="1900" b="1" dirty="0" err="1"/>
              <a:t>ReLU</a:t>
            </a:r>
            <a:r>
              <a:rPr lang="en-US" sz="1900" b="1" dirty="0"/>
              <a:t> Activation</a:t>
            </a:r>
          </a:p>
          <a:p>
            <a:r>
              <a:rPr lang="en-US" sz="1900" dirty="0"/>
              <a:t>Negative values are set to zero using </a:t>
            </a:r>
            <a:r>
              <a:rPr lang="en-US" sz="1900" dirty="0" err="1"/>
              <a:t>ReLU</a:t>
            </a:r>
            <a:r>
              <a:rPr lang="en-US" sz="1900" dirty="0"/>
              <a:t> (Rectified Linear Unit).</a:t>
            </a:r>
          </a:p>
          <a:p>
            <a:r>
              <a:rPr lang="en-US" sz="1900" dirty="0"/>
              <a:t>This keeps only important, positive activations and improves learning stability.</a:t>
            </a:r>
          </a:p>
          <a:p>
            <a:pPr marL="0" indent="0">
              <a:buNone/>
            </a:pPr>
            <a:r>
              <a:rPr lang="en-US" sz="1900" b="1" dirty="0"/>
              <a:t>4. Pooling</a:t>
            </a:r>
          </a:p>
          <a:p>
            <a:r>
              <a:rPr lang="en-US" sz="1900" dirty="0"/>
              <a:t>Max Pooling reduces the feature map size by selecting the strongest activation in each region.</a:t>
            </a:r>
          </a:p>
          <a:p>
            <a:r>
              <a:rPr lang="en-US" sz="1900" dirty="0"/>
              <a:t>This step compresses the information and removes noise.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27572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EA96-ED33-1E46-B517-5018CDAA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0F6D-052F-5F2C-DD6F-A61C2D24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Latent Space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FF2D-5654-346D-7AA6-34606531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0463"/>
            <a:ext cx="9601200" cy="4828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Latent Space (Compressed Code)</a:t>
            </a:r>
          </a:p>
          <a:p>
            <a:r>
              <a:rPr lang="en-US" dirty="0"/>
              <a:t>After convolution and pooling, the image is represented as a smaller matrix called the </a:t>
            </a:r>
            <a:r>
              <a:rPr lang="en-US" i="1" dirty="0"/>
              <a:t>latent space</a:t>
            </a:r>
            <a:r>
              <a:rPr lang="en-US" dirty="0"/>
              <a:t>.</a:t>
            </a:r>
          </a:p>
          <a:p>
            <a:r>
              <a:rPr lang="en-US" dirty="0"/>
              <a:t>This compressed representation holds the most important features of the input image.</a:t>
            </a:r>
          </a:p>
          <a:p>
            <a:r>
              <a:rPr lang="en-US" dirty="0"/>
              <a:t>The latent space reduces storage size and is the core of compression.</a:t>
            </a:r>
          </a:p>
          <a:p>
            <a:r>
              <a:rPr lang="en-US" dirty="0"/>
              <a:t>All high-level information about the image is encoded here.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41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0671-8735-27F2-2D87-B023DD05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274C-B063-3AC9-A517-BD7DB684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Decoder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EC4E6-C597-4BC8-7235-8A5786CD4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0463"/>
            <a:ext cx="9601200" cy="48286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6. Decoder Reconstruction</a:t>
            </a:r>
          </a:p>
          <a:p>
            <a:r>
              <a:rPr lang="en-US" dirty="0"/>
              <a:t>The decoder reverses the encoding steps:</a:t>
            </a:r>
          </a:p>
          <a:p>
            <a:pPr marL="0" indent="0">
              <a:buNone/>
            </a:pPr>
            <a:r>
              <a:rPr lang="en-US" b="1" dirty="0"/>
              <a:t>       a. </a:t>
            </a:r>
            <a:r>
              <a:rPr lang="en-US" b="1" dirty="0" err="1"/>
              <a:t>Upsampling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The latent space is expanded back to a larger dimension.</a:t>
            </a:r>
          </a:p>
          <a:p>
            <a:pPr marL="0" indent="0">
              <a:buNone/>
            </a:pPr>
            <a:r>
              <a:rPr lang="en-US" dirty="0"/>
              <a:t>	This can be done using nearest-neighbor </a:t>
            </a:r>
            <a:r>
              <a:rPr lang="en-US" dirty="0" err="1"/>
              <a:t>upsampling</a:t>
            </a:r>
            <a:r>
              <a:rPr lang="en-US" dirty="0"/>
              <a:t>, bilinear interpolation, or transposed convolution.</a:t>
            </a:r>
          </a:p>
          <a:p>
            <a:pPr marL="0" indent="0">
              <a:buNone/>
            </a:pPr>
            <a:r>
              <a:rPr lang="en-US" b="1" dirty="0"/>
              <a:t>      b. Decoder Convolution</a:t>
            </a:r>
          </a:p>
          <a:p>
            <a:pPr marL="0" indent="0">
              <a:buNone/>
            </a:pPr>
            <a:r>
              <a:rPr lang="en-US" dirty="0"/>
              <a:t>	Convolution layers in the decoder reconstruct missing details.</a:t>
            </a:r>
          </a:p>
          <a:p>
            <a:pPr marL="0" indent="0">
              <a:buNone/>
            </a:pPr>
            <a:r>
              <a:rPr lang="en-US" dirty="0"/>
              <a:t>	These filters learn how to rebuild shapes, textures, and edges from the compressed code.</a:t>
            </a:r>
          </a:p>
          <a:p>
            <a:pPr marL="0" indent="0">
              <a:buNone/>
            </a:pPr>
            <a:r>
              <a:rPr lang="en-US" b="1" dirty="0"/>
              <a:t>      c. Output Activation</a:t>
            </a:r>
          </a:p>
          <a:p>
            <a:pPr marL="0" indent="0">
              <a:buNone/>
            </a:pPr>
            <a:r>
              <a:rPr lang="en-US" dirty="0"/>
              <a:t>	A Sigmoid or Tanh activation generates the final pixel values.</a:t>
            </a:r>
          </a:p>
          <a:p>
            <a:pPr marL="0" indent="0">
              <a:buNone/>
            </a:pPr>
            <a:r>
              <a:rPr lang="en-US" dirty="0"/>
              <a:t>	The result is the </a:t>
            </a:r>
            <a:r>
              <a:rPr lang="en-US" i="1" dirty="0"/>
              <a:t>reconstructed image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599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C166-B0D7-6316-34F0-A9BD26CE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132A-DF88-F6F2-30AC-F7247EAA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7278"/>
            <a:ext cx="9601200" cy="1485900"/>
          </a:xfrm>
        </p:spPr>
        <p:txBody>
          <a:bodyPr/>
          <a:lstStyle/>
          <a:p>
            <a:r>
              <a:rPr lang="en-US" dirty="0"/>
              <a:t>Training: Loss, Backpropagation &amp; Weight Update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888F-AA0F-CDF8-14B0-598F501B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73178"/>
            <a:ext cx="9601200" cy="48848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7. Loss Calculation</a:t>
            </a:r>
          </a:p>
          <a:p>
            <a:r>
              <a:rPr lang="en-US" dirty="0"/>
              <a:t>The reconstructed image is compared with the original input image.</a:t>
            </a:r>
          </a:p>
          <a:p>
            <a:r>
              <a:rPr lang="en-US" dirty="0"/>
              <a:t>A loss function (usually Mean Squared Error) measures how different the two images are.</a:t>
            </a:r>
          </a:p>
          <a:p>
            <a:pPr marL="0" indent="0">
              <a:buNone/>
            </a:pPr>
            <a:r>
              <a:rPr lang="en-US" b="1" dirty="0"/>
              <a:t>8. Backpropagation</a:t>
            </a:r>
          </a:p>
          <a:p>
            <a:r>
              <a:rPr lang="en-US" dirty="0"/>
              <a:t>The error (loss) is propagated backward through the network.</a:t>
            </a:r>
          </a:p>
          <a:p>
            <a:r>
              <a:rPr lang="en-US" dirty="0"/>
              <a:t>Each layer receives feedback on “how much mistake it made.”</a:t>
            </a:r>
          </a:p>
          <a:p>
            <a:r>
              <a:rPr lang="en-US" dirty="0"/>
              <a:t>This process computes gradients for every filter and weight.</a:t>
            </a:r>
          </a:p>
          <a:p>
            <a:pPr marL="0" indent="0">
              <a:buNone/>
            </a:pPr>
            <a:r>
              <a:rPr lang="en-US" b="1" dirty="0"/>
              <a:t>9. Gradient Descent</a:t>
            </a:r>
          </a:p>
          <a:p>
            <a:r>
              <a:rPr lang="en-US" dirty="0"/>
              <a:t>Weights are updated using the formula:</a:t>
            </a:r>
            <a:br>
              <a:rPr lang="en-US" dirty="0"/>
            </a:br>
            <a:r>
              <a:rPr lang="en-US" b="1" dirty="0"/>
              <a:t>New Weight = Old Weight – Learning Rate × Gradient</a:t>
            </a:r>
            <a:endParaRPr lang="en-US" dirty="0"/>
          </a:p>
          <a:p>
            <a:r>
              <a:rPr lang="en-US" dirty="0"/>
              <a:t>This step reduces the error and improves reconstruction quality.</a:t>
            </a:r>
          </a:p>
          <a:p>
            <a:r>
              <a:rPr lang="en-US" dirty="0"/>
              <a:t>Repeating this process for many epochs trains the autoencoder to learn meaningful features.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90342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{953A054E-B122-46B8-AA47-6650CEB3F719}tf10001105</Template>
  <TotalTime>140</TotalTime>
  <Words>884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Franklin Gothic Book</vt:lpstr>
      <vt:lpstr>Crop</vt:lpstr>
      <vt:lpstr>MULTI-RESOLUTIONAL IMAGE COMPRESSION USING DEEP CONVOLUTIONAL AUTOENCODERS</vt:lpstr>
      <vt:lpstr>EXISTING METHODOLOGY- JPEG IMAGE COMPRESSION</vt:lpstr>
      <vt:lpstr>JPEG Compression: Preprocessing Steps</vt:lpstr>
      <vt:lpstr>JPEG Compression: Frequency-Based Processing</vt:lpstr>
      <vt:lpstr>JPEG Compression: Encoding Stage </vt:lpstr>
      <vt:lpstr>PROPOSED METHOD - ABSTRACT</vt:lpstr>
      <vt:lpstr>Encoder Workflow</vt:lpstr>
      <vt:lpstr>Latent Space Representation</vt:lpstr>
      <vt:lpstr>Decoder Workflow</vt:lpstr>
      <vt:lpstr>Training: Loss, Backpropagation &amp; Weight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Jaavanika L</dc:creator>
  <cp:lastModifiedBy>Jaavanika L</cp:lastModifiedBy>
  <cp:revision>2</cp:revision>
  <dcterms:created xsi:type="dcterms:W3CDTF">2025-11-13T14:20:42Z</dcterms:created>
  <dcterms:modified xsi:type="dcterms:W3CDTF">2025-11-14T03:16:51Z</dcterms:modified>
</cp:coreProperties>
</file>