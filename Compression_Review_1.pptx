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8" r:id="rId4"/>
    <p:sldId id="265" r:id="rId5"/>
    <p:sldId id="264" r:id="rId6"/>
    <p:sldId id="259" r:id="rId7"/>
    <p:sldId id="266" r:id="rId8"/>
    <p:sldId id="267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50" d="100"/>
          <a:sy n="50" d="100"/>
        </p:scale>
        <p:origin x="1709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9BEF-2F38-31A9-FE6A-76A43258E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3621101"/>
            <a:ext cx="8361229" cy="2098226"/>
          </a:xfrm>
        </p:spPr>
        <p:txBody>
          <a:bodyPr/>
          <a:lstStyle/>
          <a:p>
            <a:r>
              <a:rPr lang="en-IN" sz="6600" b="1" dirty="0" err="1"/>
              <a:t>Multiresolutional</a:t>
            </a:r>
            <a:r>
              <a:rPr lang="en-IN" sz="6600" b="1" dirty="0"/>
              <a:t> Image Compression using Deep Convolutional Autoencoders</a:t>
            </a:r>
            <a:r>
              <a:rPr lang="en-IN" sz="6600" dirty="0"/>
              <a:t>.</a:t>
            </a:r>
            <a:endParaRPr lang="en-IN" sz="7000" dirty="0">
              <a:latin typeface="Franklin Gothic Book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827521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EB16458-3903-5899-362D-393B433DF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111917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11084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229646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14363652"/>
                    </a:ext>
                  </a:extLst>
                </a:gridCol>
              </a:tblGrid>
              <a:tr h="966706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Existing Image Compression(JPEG, JPEG2000, etc)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Our Methodology(</a:t>
                      </a:r>
                      <a:r>
                        <a:rPr lang="en-IN" dirty="0" err="1"/>
                        <a:t>Multiresolutional</a:t>
                      </a:r>
                      <a:r>
                        <a:rPr lang="en-IN" dirty="0"/>
                        <a:t> Image Compression using Deep Convolutional Autoencoders)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093801"/>
                  </a:ext>
                </a:extLst>
              </a:tr>
              <a:tr h="920515">
                <a:tc>
                  <a:txBody>
                    <a:bodyPr/>
                    <a:lstStyle/>
                    <a:p>
                      <a:r>
                        <a:rPr lang="en-IN" b="1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fixed mathematical transforms like DCT(JPEG) or Wavelets(JPEG2000)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deep learning (CNN-based autoencoders) to learn compression automatically from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15299"/>
                  </a:ext>
                </a:extLst>
              </a:tr>
              <a:tr h="920515">
                <a:tc>
                  <a:txBody>
                    <a:bodyPr/>
                    <a:lstStyle/>
                    <a:p>
                      <a:r>
                        <a:rPr lang="en-IN" b="1" dirty="0"/>
                        <a:t>Feature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Manually designed, works the same for all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Learns adaptive features for different image types(natural, medical, satellite, etc)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122020"/>
                  </a:ext>
                </a:extLst>
              </a:tr>
              <a:tr h="920515">
                <a:tc>
                  <a:txBody>
                    <a:bodyPr/>
                    <a:lstStyle/>
                    <a:p>
                      <a:r>
                        <a:rPr lang="en-IN" b="1" dirty="0"/>
                        <a:t>Resolution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Works on a single resolution, loses fine details at high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Multiresolutional</a:t>
                      </a:r>
                      <a:r>
                        <a:rPr lang="en-IN" dirty="0"/>
                        <a:t>: preserves both coarse structures and fine details at multiple scales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188455"/>
                  </a:ext>
                </a:extLst>
              </a:tr>
              <a:tr h="920515">
                <a:tc>
                  <a:txBody>
                    <a:bodyPr/>
                    <a:lstStyle/>
                    <a:p>
                      <a:r>
                        <a:rPr lang="en-IN" b="1" dirty="0"/>
                        <a:t>Compression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 at moderate compression but degrades heavily at high compression ratios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Achieves higher compression while keeping images visually natural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097339"/>
                  </a:ext>
                </a:extLst>
              </a:tr>
              <a:tr h="644360">
                <a:tc>
                  <a:txBody>
                    <a:bodyPr/>
                    <a:lstStyle/>
                    <a:p>
                      <a:r>
                        <a:rPr lang="en-IN" b="1" dirty="0"/>
                        <a:t>Artifacts(Visual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JPEG-&gt;blocking artifacts</a:t>
                      </a:r>
                    </a:p>
                    <a:p>
                      <a:r>
                        <a:rPr lang="en-IN" dirty="0"/>
                        <a:t>JPEG2000-&gt;blurring/ringing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Reduces such artifacts; produces more realistic reconstructions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831097"/>
                  </a:ext>
                </a:extLst>
              </a:tr>
              <a:tr h="920515">
                <a:tc>
                  <a:txBody>
                    <a:bodyPr/>
                    <a:lstStyle/>
                    <a:p>
                      <a:r>
                        <a:rPr lang="en-IN" b="1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flexibility, not easy adaptable to new domains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Highly Scalable; can be retrained for specific domains (medical, remote sensing, etc)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537360"/>
                  </a:ext>
                </a:extLst>
              </a:tr>
              <a:tr h="644360">
                <a:tc>
                  <a:txBody>
                    <a:bodyPr/>
                    <a:lstStyle/>
                    <a:p>
                      <a:r>
                        <a:rPr lang="en-IN" b="1" dirty="0"/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Rule Based (hand-crafted formulas)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Data-driven (learns directly from large datasets)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939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36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4AECC53-D6D2-2225-8C0A-92240DBE89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42346"/>
            <a:ext cx="11765279" cy="764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JPEG</a:t>
            </a:r>
            <a:r>
              <a:rPr lang="en-US" altLang="en-US" sz="3000" b="1" dirty="0">
                <a:solidFill>
                  <a:schemeClr val="tx1"/>
                </a:solidFill>
                <a:latin typeface="Arial" panose="020B0604020202020204" pitchFamily="34" charset="0"/>
              </a:rPr>
              <a:t> (Existing Algorithm)</a:t>
            </a: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500" b="1" dirty="0"/>
              <a:t>Step 1. Color Conversion (RGB → </a:t>
            </a:r>
            <a:r>
              <a:rPr lang="en-US" sz="2500" b="1" dirty="0" err="1"/>
              <a:t>YCbCr</a:t>
            </a:r>
            <a:r>
              <a:rPr lang="en-US" sz="2500" b="1" dirty="0"/>
              <a:t>)</a:t>
            </a:r>
            <a:endParaRPr lang="en-US" sz="2500" dirty="0"/>
          </a:p>
          <a:p>
            <a:r>
              <a:rPr lang="en-US" sz="2500" dirty="0"/>
              <a:t>Original image is in RGB (Red, Green, Blue).</a:t>
            </a:r>
          </a:p>
          <a:p>
            <a:r>
              <a:rPr lang="en-US" sz="2500" dirty="0"/>
              <a:t>Converted into Y (brightness), </a:t>
            </a:r>
            <a:r>
              <a:rPr lang="en-US" sz="2500" dirty="0" err="1"/>
              <a:t>Cb</a:t>
            </a:r>
            <a:r>
              <a:rPr lang="en-US" sz="2500" dirty="0"/>
              <a:t> (blue color), Cr (red color).</a:t>
            </a:r>
          </a:p>
          <a:p>
            <a:r>
              <a:rPr lang="en-US" sz="2500" dirty="0"/>
              <a:t>Human eyes are more sensitive to brightness than color</a:t>
            </a:r>
          </a:p>
          <a:p>
            <a:pPr marL="0" indent="0">
              <a:buNone/>
            </a:pPr>
            <a:r>
              <a:rPr lang="en-US" sz="2500" b="1" dirty="0"/>
              <a:t>Step 2. Chroma Subsampling (Reduce Color Details)</a:t>
            </a:r>
            <a:endParaRPr lang="en-US" sz="2500" dirty="0"/>
          </a:p>
          <a:p>
            <a:r>
              <a:rPr lang="en-US" sz="2500" dirty="0"/>
              <a:t>Brightness (Y) kept clear, colors (</a:t>
            </a:r>
            <a:r>
              <a:rPr lang="en-US" sz="2500" dirty="0" err="1"/>
              <a:t>Cb</a:t>
            </a:r>
            <a:r>
              <a:rPr lang="en-US" sz="2500" dirty="0"/>
              <a:t>, Cr) reduced.</a:t>
            </a:r>
          </a:p>
          <a:p>
            <a:r>
              <a:rPr lang="en-US" sz="2500" dirty="0"/>
              <a:t>Fewer color details = smaller file, but looks almost the same.</a:t>
            </a:r>
          </a:p>
          <a:p>
            <a:pPr marL="0" indent="0">
              <a:buNone/>
            </a:pPr>
            <a:r>
              <a:rPr lang="en-US" sz="2500" b="1" dirty="0"/>
              <a:t>Step 3. Block Splitting + DCT (Frequency Transformation)</a:t>
            </a:r>
            <a:endParaRPr lang="en-US" sz="2500" dirty="0"/>
          </a:p>
          <a:p>
            <a:r>
              <a:rPr lang="en-US" sz="2500" dirty="0"/>
              <a:t>Image divided into </a:t>
            </a:r>
            <a:r>
              <a:rPr lang="en-US" sz="2500" b="1" dirty="0"/>
              <a:t>8×8 pixel blocks</a:t>
            </a:r>
            <a:r>
              <a:rPr lang="en-US" sz="2500" dirty="0"/>
              <a:t>.</a:t>
            </a:r>
          </a:p>
          <a:p>
            <a:r>
              <a:rPr lang="en-US" sz="2500" dirty="0"/>
              <a:t>Each block converted to frequency domain using </a:t>
            </a:r>
            <a:r>
              <a:rPr lang="en-US" sz="2500" b="1" dirty="0"/>
              <a:t>DCT</a:t>
            </a:r>
            <a:r>
              <a:rPr lang="en-US" sz="2500" dirty="0"/>
              <a:t>.</a:t>
            </a:r>
          </a:p>
          <a:p>
            <a:r>
              <a:rPr lang="en-US" sz="2500" dirty="0"/>
              <a:t>Low frequency = smooth background (sky).</a:t>
            </a:r>
          </a:p>
          <a:p>
            <a:r>
              <a:rPr lang="en-US" sz="2500" dirty="0"/>
              <a:t>High frequency = fine details (hair, text).</a:t>
            </a:r>
          </a:p>
          <a:p>
            <a:pPr marL="0" indent="0">
              <a:buNone/>
            </a:pPr>
            <a:endParaRPr lang="en-US" altLang="en-US" sz="2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95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F99B-36B1-A3FE-709E-FCA15C9C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B7C30B2-68EC-CFB1-0EB9-C613C7A93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6760" y="152400"/>
            <a:ext cx="11445240" cy="687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JPEG</a:t>
            </a:r>
            <a:r>
              <a:rPr lang="en-US" altLang="en-US" sz="3000" b="1" dirty="0">
                <a:solidFill>
                  <a:schemeClr val="tx1"/>
                </a:solidFill>
                <a:latin typeface="Arial" panose="020B0604020202020204" pitchFamily="34" charset="0"/>
              </a:rPr>
              <a:t> (Existing Algorithm </a:t>
            </a:r>
            <a:r>
              <a:rPr lang="en-US" altLang="en-US" sz="3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Contd</a:t>
            </a:r>
            <a:r>
              <a:rPr lang="en-US" altLang="en-US" sz="3000" b="1" dirty="0">
                <a:solidFill>
                  <a:schemeClr val="tx1"/>
                </a:solidFill>
                <a:latin typeface="Arial" panose="020B0604020202020204" pitchFamily="34" charset="0"/>
              </a:rPr>
              <a:t>…)</a:t>
            </a: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500" b="1" dirty="0"/>
              <a:t>Step 4. Quantization (Actual Compression Step)</a:t>
            </a:r>
            <a:endParaRPr lang="en-IN" sz="2500" dirty="0"/>
          </a:p>
          <a:p>
            <a:r>
              <a:rPr lang="en-IN" sz="2500" dirty="0"/>
              <a:t>High-frequency values reduced or removed (rounding).Keeps only “important” details.</a:t>
            </a:r>
          </a:p>
          <a:p>
            <a:r>
              <a:rPr lang="en-IN" sz="2500" dirty="0"/>
              <a:t>Some info lost = JPEG is </a:t>
            </a:r>
            <a:r>
              <a:rPr lang="en-IN" sz="2500" b="1" dirty="0"/>
              <a:t>lossy compression.</a:t>
            </a:r>
          </a:p>
          <a:p>
            <a:pPr marL="0" indent="0">
              <a:buNone/>
            </a:pPr>
            <a:r>
              <a:rPr lang="en-IN" sz="2500" b="1" dirty="0"/>
              <a:t>Step 5. Entropy Encoding (Smart Packing)</a:t>
            </a:r>
            <a:endParaRPr lang="en-IN" sz="2500" dirty="0"/>
          </a:p>
          <a:p>
            <a:r>
              <a:rPr lang="en-IN" sz="2500" dirty="0"/>
              <a:t>Many values become </a:t>
            </a:r>
            <a:r>
              <a:rPr lang="en-IN" sz="2500" b="1" dirty="0"/>
              <a:t>zeros</a:t>
            </a:r>
            <a:r>
              <a:rPr lang="en-IN" sz="2500" dirty="0"/>
              <a:t> after quantization.</a:t>
            </a:r>
          </a:p>
          <a:p>
            <a:r>
              <a:rPr lang="en-IN" sz="2500" dirty="0"/>
              <a:t>Numbers stored in </a:t>
            </a:r>
            <a:r>
              <a:rPr lang="en-IN" sz="2500" b="1" dirty="0"/>
              <a:t>zig-zag order</a:t>
            </a:r>
            <a:r>
              <a:rPr lang="en-IN" sz="2500" dirty="0"/>
              <a:t> → zeros grouped together.</a:t>
            </a:r>
          </a:p>
          <a:p>
            <a:pPr marL="0" indent="0">
              <a:buNone/>
            </a:pPr>
            <a:r>
              <a:rPr lang="en-US" sz="2500" b="1" dirty="0">
                <a:latin typeface="Franklin Gothic Book (Body)"/>
              </a:rPr>
              <a:t>Step 6. Decompression (Getting Image Back)</a:t>
            </a:r>
            <a:endParaRPr lang="en-US" sz="2500" dirty="0">
              <a:latin typeface="Franklin Gothic Book (Body)"/>
            </a:endParaRPr>
          </a:p>
          <a:p>
            <a:r>
              <a:rPr lang="en-US" sz="2500" dirty="0">
                <a:latin typeface="Franklin Gothic Book (Body)"/>
              </a:rPr>
              <a:t>Reverse the process:</a:t>
            </a:r>
          </a:p>
          <a:p>
            <a:pPr lvl="1"/>
            <a:r>
              <a:rPr lang="en-US" sz="2500" dirty="0">
                <a:latin typeface="Franklin Gothic Book (Body)"/>
              </a:rPr>
              <a:t>Decode numbers, Rebuild frequency patterns → 8×8 blocks, Convert </a:t>
            </a:r>
            <a:r>
              <a:rPr lang="en-US" sz="2500" dirty="0" err="1">
                <a:latin typeface="Franklin Gothic Book (Body)"/>
              </a:rPr>
              <a:t>YCbCr</a:t>
            </a:r>
            <a:r>
              <a:rPr lang="en-US" sz="2500" dirty="0">
                <a:latin typeface="Franklin Gothic Book (Body)"/>
              </a:rPr>
              <a:t> → RGB.</a:t>
            </a:r>
          </a:p>
          <a:p>
            <a:r>
              <a:rPr lang="en-US" sz="2500" dirty="0">
                <a:latin typeface="Franklin Gothic Book (Body)"/>
              </a:rPr>
              <a:t>Final image looks almost original, but with smaller file size</a:t>
            </a:r>
          </a:p>
          <a:p>
            <a:endParaRPr lang="en-US" sz="2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73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BB7CE-520E-2BC5-BDC8-7728908A8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495" y="1645919"/>
            <a:ext cx="4378362" cy="3402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44F88-47B2-3E26-EF91-5828DA057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71" y="1645919"/>
            <a:ext cx="4457251" cy="3402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47AF35-B437-799E-A871-B4A2B00331CA}"/>
              </a:ext>
            </a:extLst>
          </p:cNvPr>
          <p:cNvSpPr txBox="1"/>
          <p:nvPr/>
        </p:nvSpPr>
        <p:spPr>
          <a:xfrm>
            <a:off x="5938091" y="3162404"/>
            <a:ext cx="1040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ym typeface="Wingdings" panose="05000000000000000000" pitchFamily="2" charset="2"/>
              </a:rPr>
              <a:t>-----------&gt;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4646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C964-348A-F9FA-48A2-D9F4D4A2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 dirty="0">
                <a:latin typeface="Franklin Gothic Book (Headings)"/>
              </a:rPr>
              <a:t>Limitations of Existing Techniques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076006-DE9A-2F75-906E-445D975D80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760" y="2582912"/>
            <a:ext cx="993986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JPEG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At high compression produces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blocking artifacts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 (visible square patches).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Not suitable for medical or scientific images requiring fine detail.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3000" dirty="0">
                <a:latin typeface="Franklin Gothic Book (Headings)"/>
              </a:rPr>
              <a:t>.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84947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8C4F-3FC6-CE3C-FA29-E2A13307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200"/>
            <a:ext cx="9601200" cy="693420"/>
          </a:xfrm>
        </p:spPr>
        <p:txBody>
          <a:bodyPr>
            <a:normAutofit/>
          </a:bodyPr>
          <a:lstStyle/>
          <a:p>
            <a:r>
              <a:rPr lang="en-IN" sz="3000" b="1" dirty="0"/>
              <a:t>Deep Autoencoder Image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DD14D-2548-68DE-5D8B-C60A4F13E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693420"/>
            <a:ext cx="10881360" cy="7421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b="1" dirty="0"/>
              <a:t>Step 1. Input Image</a:t>
            </a:r>
            <a:endParaRPr lang="en-IN" sz="2500" dirty="0"/>
          </a:p>
          <a:p>
            <a:r>
              <a:rPr lang="en-IN" sz="2500" dirty="0"/>
              <a:t>Full image (e.g., 256×256) is fed directly.</a:t>
            </a:r>
          </a:p>
          <a:p>
            <a:r>
              <a:rPr lang="en-IN" sz="2500" dirty="0"/>
              <a:t>Unlike JPEG, </a:t>
            </a:r>
            <a:r>
              <a:rPr lang="en-IN" sz="2500" b="1" dirty="0"/>
              <a:t>no splitting into 8×8 blocks</a:t>
            </a:r>
            <a:r>
              <a:rPr lang="en-IN" sz="2500" dirty="0"/>
              <a:t>.</a:t>
            </a:r>
          </a:p>
          <a:p>
            <a:pPr marL="0" indent="0">
              <a:buNone/>
            </a:pPr>
            <a:r>
              <a:rPr lang="en-IN" sz="2500" b="1" dirty="0"/>
              <a:t>Step 2. </a:t>
            </a:r>
            <a:r>
              <a:rPr lang="en-IN" sz="2500" b="1" dirty="0" err="1"/>
              <a:t>Multiresolutional</a:t>
            </a:r>
            <a:r>
              <a:rPr lang="en-IN" sz="2500" b="1" dirty="0"/>
              <a:t> Representation</a:t>
            </a:r>
            <a:endParaRPr lang="en-IN" sz="2500" dirty="0"/>
          </a:p>
          <a:p>
            <a:r>
              <a:rPr lang="en-IN" sz="2500" dirty="0"/>
              <a:t>Image is </a:t>
            </a:r>
            <a:r>
              <a:rPr lang="en-IN" sz="2500" dirty="0" err="1"/>
              <a:t>analyzed</a:t>
            </a:r>
            <a:r>
              <a:rPr lang="en-IN" sz="2500" dirty="0"/>
              <a:t> at </a:t>
            </a:r>
            <a:r>
              <a:rPr lang="en-IN" sz="2500" b="1" dirty="0"/>
              <a:t>different zoom levels</a:t>
            </a:r>
            <a:r>
              <a:rPr lang="en-IN" sz="2500" dirty="0"/>
              <a:t>:</a:t>
            </a:r>
          </a:p>
          <a:p>
            <a:pPr lvl="1"/>
            <a:r>
              <a:rPr lang="en-IN" sz="2500" dirty="0"/>
              <a:t>Coarse scale , Mid scale, Fine scale</a:t>
            </a:r>
          </a:p>
          <a:p>
            <a:r>
              <a:rPr lang="en-IN" sz="2500" dirty="0"/>
              <a:t>Preserves </a:t>
            </a:r>
            <a:r>
              <a:rPr lang="en-IN" sz="2500" b="1" dirty="0"/>
              <a:t>both global structure &amp; fine details</a:t>
            </a:r>
            <a:r>
              <a:rPr lang="en-IN" sz="2500" dirty="0"/>
              <a:t>.</a:t>
            </a:r>
          </a:p>
          <a:p>
            <a:pPr marL="0" indent="0">
              <a:buNone/>
            </a:pPr>
            <a:r>
              <a:rPr lang="en-IN" sz="2500" b="1" dirty="0"/>
              <a:t>Step 3. Encoder (CNN Compression Stage)</a:t>
            </a:r>
            <a:endParaRPr lang="en-IN" sz="2500" dirty="0"/>
          </a:p>
          <a:p>
            <a:r>
              <a:rPr lang="en-IN" sz="2500" dirty="0"/>
              <a:t>Convolutional Neural Networks (CNNs) extract features.</a:t>
            </a:r>
          </a:p>
          <a:p>
            <a:r>
              <a:rPr lang="en-IN" sz="2500" dirty="0"/>
              <a:t>Filters (3×3, 5×5) slide across the image to detect:</a:t>
            </a:r>
          </a:p>
          <a:p>
            <a:pPr lvl="1"/>
            <a:r>
              <a:rPr lang="en-IN" sz="2500" dirty="0"/>
              <a:t>Shallow layers ,Middle layers, Deep layers</a:t>
            </a:r>
          </a:p>
          <a:p>
            <a:r>
              <a:rPr lang="en-IN" sz="2500" dirty="0" err="1"/>
              <a:t>Downsampling</a:t>
            </a:r>
            <a:r>
              <a:rPr lang="en-IN" sz="2500" dirty="0"/>
              <a:t> reduces image size but keeps essential info.</a:t>
            </a:r>
            <a:br>
              <a:rPr lang="en-IN" sz="2500" dirty="0"/>
            </a:b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28652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2F03-5B8A-446C-CCD6-4226E942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D510-7BD5-007D-2C1F-829866CC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200"/>
            <a:ext cx="9601200" cy="693420"/>
          </a:xfrm>
        </p:spPr>
        <p:txBody>
          <a:bodyPr>
            <a:normAutofit/>
          </a:bodyPr>
          <a:lstStyle/>
          <a:p>
            <a:r>
              <a:rPr lang="en-IN" sz="3000" b="1" dirty="0"/>
              <a:t>Deep Autoencoder Image 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2986E-C19B-11B7-1BCD-FD85EE979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586740"/>
            <a:ext cx="10881360" cy="7421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b="1" dirty="0"/>
              <a:t>Step 4. Latent Representation (The Bottleneck)</a:t>
            </a:r>
            <a:endParaRPr lang="en-IN" sz="2500" dirty="0"/>
          </a:p>
          <a:p>
            <a:r>
              <a:rPr lang="en-IN" sz="2500" dirty="0"/>
              <a:t>Encoder compresses into a small </a:t>
            </a:r>
            <a:r>
              <a:rPr lang="en-IN" sz="2500" b="1" dirty="0"/>
              <a:t>latent code</a:t>
            </a:r>
            <a:r>
              <a:rPr lang="en-IN" sz="2500" dirty="0"/>
              <a:t>.</a:t>
            </a:r>
          </a:p>
          <a:p>
            <a:r>
              <a:rPr lang="en-IN" sz="2500" dirty="0"/>
              <a:t>Example:</a:t>
            </a:r>
          </a:p>
          <a:p>
            <a:pPr lvl="1"/>
            <a:r>
              <a:rPr lang="en-IN" sz="2500" dirty="0"/>
              <a:t>Input = 256×256×3 = ~196k values.</a:t>
            </a:r>
          </a:p>
          <a:p>
            <a:pPr lvl="1"/>
            <a:r>
              <a:rPr lang="en-IN" sz="2500" dirty="0"/>
              <a:t>Latent code = only 1k–5k numbers.</a:t>
            </a:r>
          </a:p>
          <a:p>
            <a:r>
              <a:rPr lang="en-IN" sz="2500" dirty="0"/>
              <a:t>Code stores the </a:t>
            </a:r>
            <a:r>
              <a:rPr lang="en-IN" sz="2500" b="1" dirty="0"/>
              <a:t>essence</a:t>
            </a:r>
            <a:r>
              <a:rPr lang="en-IN" sz="2500" dirty="0"/>
              <a:t>: edges, shapes, textures.</a:t>
            </a:r>
          </a:p>
          <a:p>
            <a:pPr marL="0" indent="0">
              <a:buNone/>
            </a:pPr>
            <a:r>
              <a:rPr lang="en-IN" sz="2500" b="1" dirty="0"/>
              <a:t>Step 5. Decoder (Reconstruction Stage)</a:t>
            </a:r>
            <a:endParaRPr lang="en-IN" sz="2500" dirty="0"/>
          </a:p>
          <a:p>
            <a:r>
              <a:rPr lang="en-IN" sz="2500" dirty="0"/>
              <a:t>Works like reverse CNN:</a:t>
            </a:r>
          </a:p>
          <a:p>
            <a:pPr lvl="1"/>
            <a:r>
              <a:rPr lang="en-IN" sz="2500" dirty="0" err="1"/>
              <a:t>Upsamples</a:t>
            </a:r>
            <a:r>
              <a:rPr lang="en-IN" sz="2500" dirty="0"/>
              <a:t> latent code → reconstructs image.</a:t>
            </a:r>
          </a:p>
          <a:p>
            <a:pPr lvl="1"/>
            <a:r>
              <a:rPr lang="en-IN" sz="2500" dirty="0"/>
              <a:t>Adds back details learned during training.</a:t>
            </a:r>
          </a:p>
          <a:p>
            <a:r>
              <a:rPr lang="en-IN" sz="2500" dirty="0"/>
              <a:t>Encoder = </a:t>
            </a:r>
            <a:r>
              <a:rPr lang="en-IN" sz="2500" b="1" dirty="0"/>
              <a:t>smart compressor</a:t>
            </a:r>
            <a:r>
              <a:rPr lang="en-IN" sz="2500" dirty="0"/>
              <a:t>, Decoder = </a:t>
            </a:r>
            <a:r>
              <a:rPr lang="en-IN" sz="2500" b="1" dirty="0"/>
              <a:t>smart restorer</a:t>
            </a:r>
            <a:r>
              <a:rPr lang="en-IN" sz="2500" dirty="0"/>
              <a:t>.</a:t>
            </a:r>
          </a:p>
          <a:p>
            <a:pPr marL="0" indent="0">
              <a:buNone/>
            </a:pPr>
            <a:r>
              <a:rPr lang="en-IN" sz="2500" b="1" dirty="0"/>
              <a:t>Step 6. Output Image</a:t>
            </a:r>
            <a:endParaRPr lang="en-IN" sz="2500" dirty="0"/>
          </a:p>
          <a:p>
            <a:r>
              <a:rPr lang="en-IN" sz="2500" dirty="0"/>
              <a:t>Reconstructed image ≈ original image.</a:t>
            </a:r>
          </a:p>
          <a:p>
            <a:pPr marL="0" indent="0">
              <a:buNone/>
            </a:pPr>
            <a:br>
              <a:rPr lang="en-IN" sz="2500" dirty="0"/>
            </a:b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98712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35A6-C2F8-130E-6075-4CD2DA3B9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000"/>
              <a:t>Advantages of Our Method</a:t>
            </a:r>
            <a:endParaRPr lang="en-IN" sz="50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ACBE717-16F5-2026-CD94-FA0EDDB6E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1722209"/>
            <a:ext cx="1051559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Better Quality Preservation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: Maintains sharpness and detail even at high compression.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Reduced Artifacts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: No blocking (JPEG) or excessive blurring (JPEG2000).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Adaptive &amp; Flexible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: Works on different image domains (general photos, medical scans, satellite images).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Higher Compression Ratios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: Achieves more size reduction while keeping quality close to the original.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End-to-End Learning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Headings)"/>
              </a:rPr>
              <a:t>: The system improves as more training data is provided.</a:t>
            </a:r>
          </a:p>
        </p:txBody>
      </p:sp>
    </p:spTree>
    <p:extLst>
      <p:ext uri="{BB962C8B-B14F-4D97-AF65-F5344CB8AC3E}">
        <p14:creationId xmlns:p14="http://schemas.microsoft.com/office/powerpoint/2010/main" val="288958226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{C8CC8856-98A0-4BC9-88AD-75E6A7EC280E}tf10001105</Template>
  <TotalTime>42</TotalTime>
  <Words>751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Franklin Gothic Book</vt:lpstr>
      <vt:lpstr>Franklin Gothic Book (Body)</vt:lpstr>
      <vt:lpstr>Franklin Gothic Book (Headings)</vt:lpstr>
      <vt:lpstr>Wingdings</vt:lpstr>
      <vt:lpstr>Crop</vt:lpstr>
      <vt:lpstr>Multiresolutional Image Compression using Deep Convolutional Autoencoders.</vt:lpstr>
      <vt:lpstr>PowerPoint Presentation</vt:lpstr>
      <vt:lpstr>PowerPoint Presentation</vt:lpstr>
      <vt:lpstr>PowerPoint Presentation</vt:lpstr>
      <vt:lpstr>PowerPoint Presentation</vt:lpstr>
      <vt:lpstr>Limitations of Existing Techniques</vt:lpstr>
      <vt:lpstr>Deep Autoencoder Image Compression</vt:lpstr>
      <vt:lpstr>Deep Autoencoder Image Compression</vt:lpstr>
      <vt:lpstr>Advantages of Our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Jaavanika L</dc:creator>
  <cp:lastModifiedBy>Jaavanika L</cp:lastModifiedBy>
  <cp:revision>5</cp:revision>
  <dcterms:created xsi:type="dcterms:W3CDTF">2025-09-10T15:40:08Z</dcterms:created>
  <dcterms:modified xsi:type="dcterms:W3CDTF">2025-09-11T16:05:23Z</dcterms:modified>
</cp:coreProperties>
</file>